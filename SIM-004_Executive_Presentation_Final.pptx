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986062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B183"/>
                </a:solidFill>
              </a:defRPr>
            </a:pPr>
            <a:r>
              <a:rPr dirty="0"/>
              <a:t>SIM-004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The Customers We Paid For</a:t>
            </a:r>
          </a:p>
          <a:p>
            <a:pPr>
              <a:defRPr sz="2000">
                <a:solidFill>
                  <a:srgbClr val="DCE6F0"/>
                </a:solidFill>
              </a:defRPr>
            </a:pPr>
            <a:r>
              <a:rPr dirty="0"/>
              <a:t>Marketing Performance &amp; Customer Acquisition Quality</a:t>
            </a:r>
            <a:endParaRPr lang="en-US" dirty="0"/>
          </a:p>
          <a:p>
            <a:pPr>
              <a:defRPr sz="2000">
                <a:solidFill>
                  <a:srgbClr val="DCE6F0"/>
                </a:solidFill>
              </a:defRPr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D3EF1-C759-7FF8-1D4C-04F11D58E514}"/>
              </a:ext>
            </a:extLst>
          </p:cNvPr>
          <p:cNvSpPr txBox="1"/>
          <p:nvPr/>
        </p:nvSpPr>
        <p:spPr>
          <a:xfrm>
            <a:off x="648929" y="4719483"/>
            <a:ext cx="3097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 SHARANYA       - B.TECH(DS)</a:t>
            </a:r>
          </a:p>
          <a:p>
            <a:r>
              <a:rPr lang="en-US" dirty="0">
                <a:solidFill>
                  <a:schemeClr val="bg1"/>
                </a:solidFill>
              </a:rPr>
              <a:t>K GREESHMIKA   - B.TECH(CSE)</a:t>
            </a:r>
          </a:p>
          <a:p>
            <a:r>
              <a:rPr lang="en-IN" dirty="0">
                <a:solidFill>
                  <a:schemeClr val="bg1"/>
                </a:solidFill>
              </a:rPr>
              <a:t>N MALAVIKA       - B.TECH(CSE)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Gross revenue: ₹6.51 crore; 2024 grew 53.5% YoY, while 2025 grew only 0.8%.</a:t>
            </a:r>
          </a:p>
          <a:p>
            <a:pPr>
              <a:spcAft>
                <a:spcPts val="1000"/>
              </a:spcAft>
              <a:defRPr sz="1700"/>
            </a:pPr>
            <a:r>
              <a:t>Affiliate Referral Network: 89.7% one-time buyer rate; CLV ₹570.</a:t>
            </a:r>
          </a:p>
          <a:p>
            <a:pPr>
              <a:spcAft>
                <a:spcPts val="1000"/>
              </a:spcAft>
              <a:defRPr sz="1700"/>
            </a:pPr>
            <a:r>
              <a:t>Influencer refund-to-gross return rate: 42.7%; realized profit margin 24.2%.</a:t>
            </a:r>
          </a:p>
          <a:p>
            <a:pPr>
              <a:spcAft>
                <a:spcPts val="1000"/>
              </a:spcAft>
              <a:defRPr sz="1700"/>
            </a:pPr>
            <a:r>
              <a:t>High CSAT repeat rate: 52.2%; low CSAT: 29.6%.</a:t>
            </a:r>
          </a:p>
          <a:p>
            <a:pPr>
              <a:spcAft>
                <a:spcPts val="1000"/>
              </a:spcAft>
              <a:defRPr sz="1700"/>
            </a:pPr>
            <a:r>
              <a:t>30% Influencer budget = ₹2,612,099; modeled incremental profit from moving it to Paid Social = ₹201,264.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2. Business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67,086 raw order rows contained 150 duplicates.</a:t>
            </a:r>
          </a:p>
          <a:p>
            <a:pPr>
              <a:spcAft>
                <a:spcPts val="1000"/>
              </a:spcAft>
              <a:defRPr sz="1700"/>
            </a:pPr>
            <a:r>
              <a:t>8,701 of 20,000 customers (43.5%) have missing campaign IDs.</a:t>
            </a:r>
          </a:p>
          <a:p>
            <a:pPr>
              <a:spcAft>
                <a:spcPts val="1000"/>
              </a:spcAft>
              <a:defRPr sz="1700"/>
            </a:pPr>
            <a:r>
              <a:t>Acquisition volume must be evaluated together with repeat behavior, refunds, COGS and realized profit.</a:t>
            </a:r>
          </a:p>
          <a:p>
            <a:pPr>
              <a:spcAft>
                <a:spcPts val="1000"/>
              </a:spcAft>
              <a:defRPr sz="1700"/>
            </a:pPr>
            <a:r>
              <a:t>The manager statements in the case were treated as hypotheses and tested against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3. Data Preparation &amp; Quality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Orders de-duplicated before financial and retention calculations.</a:t>
            </a:r>
          </a:p>
          <a:p>
            <a:pPr>
              <a:spcAft>
                <a:spcPts val="1000"/>
              </a:spcAft>
              <a:defRPr sz="1700"/>
            </a:pPr>
            <a:r>
              <a:t>Channel casing/underscore variants standardized.</a:t>
            </a:r>
          </a:p>
          <a:p>
            <a:pPr>
              <a:spcAft>
                <a:spcPts val="1000"/>
              </a:spcAft>
              <a:defRPr sz="1700"/>
            </a:pPr>
            <a:r>
              <a:t>Affiliate/referral variants consolidated; influencer variants consolidated.</a:t>
            </a:r>
          </a:p>
          <a:p>
            <a:pPr>
              <a:spcAft>
                <a:spcPts val="1000"/>
              </a:spcAft>
              <a:defRPr sz="1700"/>
            </a:pPr>
            <a:r>
              <a:t>Blank promo codes and campaign IDs retained rather than deleted.</a:t>
            </a:r>
          </a:p>
          <a:p>
            <a:pPr>
              <a:spcAft>
                <a:spcPts val="1000"/>
              </a:spcAft>
              <a:defRPr sz="1700"/>
            </a:pPr>
            <a:r>
              <a:t>Mixed date formats parsed consistently.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4. YoY 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2026 is a partial year in the supplied data.</a:t>
            </a:r>
          </a:p>
        </p:txBody>
      </p:sp>
      <p:pic>
        <p:nvPicPr>
          <p:cNvPr id="4" name="Picture 3" descr="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2024 gross revenue growth: 53.5%.</a:t>
            </a:r>
          </a:p>
          <a:p>
            <a:pPr>
              <a:spcAft>
                <a:spcPts val="1000"/>
              </a:spcAft>
              <a:defRPr sz="1500"/>
            </a:pPr>
            <a:r>
              <a:t>2025 gross revenue growth: 0.8%.</a:t>
            </a:r>
          </a:p>
          <a:p>
            <a:pPr>
              <a:spcAft>
                <a:spcPts val="1000"/>
              </a:spcAft>
              <a:defRPr sz="1500"/>
            </a:pPr>
            <a:r>
              <a:t>Total refunds: ₹1.02 crore.</a:t>
            </a:r>
          </a:p>
          <a:p>
            <a:pPr>
              <a:spcAft>
                <a:spcPts val="1000"/>
              </a:spcAft>
              <a:defRPr sz="1500"/>
            </a:pPr>
            <a:r>
              <a:t>Overall realized profit margin: 48.1%.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5. Story 1 — CAC vs CLV &amp; One-Time Buyers</a:t>
            </a:r>
          </a:p>
        </p:txBody>
      </p:sp>
      <p:pic>
        <p:nvPicPr>
          <p:cNvPr id="3" name="Picture 2" descr="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669280" cy="3188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258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CAC = campaign spend / attributed customers.</a:t>
            </a:r>
          </a:p>
          <a:p>
            <a:pPr>
              <a:spcAft>
                <a:spcPts val="1000"/>
              </a:spcAft>
              <a:defRPr sz="1500"/>
            </a:pPr>
            <a:r>
              <a:t>CLV = realized profit / signups in the standardized customer channel.</a:t>
            </a:r>
          </a:p>
          <a:p>
            <a:pPr>
              <a:spcAft>
                <a:spcPts val="1000"/>
              </a:spcAft>
              <a:defRPr sz="1500"/>
            </a:pPr>
            <a:r>
              <a:t>Affiliate/Referral: CAC ₹442; CLV ₹570; one-time 89.7%.</a:t>
            </a:r>
          </a:p>
          <a:p>
            <a:pPr>
              <a:spcAft>
                <a:spcPts val="1000"/>
              </a:spcAft>
              <a:defRPr sz="1500"/>
            </a:pPr>
            <a:r>
              <a:t>Paid Social: CAC ₹374; CLV ₹1,844; one-time 55.6%.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6. Story 2 — First-Purchase Category &amp; Repeat Behavior</a:t>
            </a:r>
          </a:p>
        </p:txBody>
      </p:sp>
      <p:pic>
        <p:nvPicPr>
          <p:cNvPr id="3" name="Picture 2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85216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Home Furnishing: highest repeat rate 37.5%.</a:t>
            </a:r>
          </a:p>
          <a:p>
            <a:pPr>
              <a:spcAft>
                <a:spcPts val="1000"/>
              </a:spcAft>
              <a:defRPr sz="1600"/>
            </a:pPr>
            <a:r>
              <a:t>Personal Lifestyle: lowest repeat rate 18.5%.</a:t>
            </a:r>
          </a:p>
          <a:p>
            <a:pPr>
              <a:spcAft>
                <a:spcPts val="1000"/>
              </a:spcAft>
              <a:defRPr sz="1600"/>
            </a:pPr>
            <a:r>
              <a:t>First-purchase category is therefore associated with different long-term customer behavior.</a:t>
            </a:r>
          </a:p>
          <a:p>
            <a:pPr>
              <a:spcAft>
                <a:spcPts val="1000"/>
              </a:spcAft>
              <a:defRPr sz="1600"/>
            </a:pPr>
            <a:r>
              <a:t>Highest-repeat category CLV: ₹1,788.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7. Story 3 — Support CSAT &amp; Delivery Experience</a:t>
            </a:r>
          </a:p>
        </p:txBody>
      </p:sp>
      <p:pic>
        <p:nvPicPr>
          <p:cNvPr id="3" name="Picture 2" descr="c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577840" cy="3137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High CSAT repeat rate: 52.2%; Low CSAT: 29.6%.</a:t>
            </a:r>
          </a:p>
          <a:p>
            <a:pPr>
              <a:spcAft>
                <a:spcPts val="1000"/>
              </a:spcAft>
              <a:defRPr sz="1500"/>
            </a:pPr>
            <a:r>
              <a:t>Gap: 22.5% percentage points.</a:t>
            </a:r>
          </a:p>
          <a:p>
            <a:pPr>
              <a:spcAft>
                <a:spcPts val="1000"/>
              </a:spcAft>
              <a:defRPr sz="1500"/>
            </a:pPr>
            <a:r>
              <a:t>Delivery issue in first 30 days: 15.1% repeat vs 30.2% without one.</a:t>
            </a:r>
          </a:p>
          <a:p>
            <a:pPr>
              <a:spcAft>
                <a:spcPts val="1000"/>
              </a:spcAft>
              <a:defRPr sz="1500"/>
            </a:pPr>
            <a:r>
              <a:t>These are observational associations, not proof of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8. Story 4 — Influencer Return Trap</a:t>
            </a:r>
          </a:p>
        </p:txBody>
      </p:sp>
      <p:pic>
        <p:nvPicPr>
          <p:cNvPr id="3" name="Picture 2" descr="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2983230"/>
          </a:xfrm>
          <a:prstGeom prst="rect">
            <a:avLst/>
          </a:prstGeom>
        </p:spPr>
      </p:pic>
      <p:pic>
        <p:nvPicPr>
          <p:cNvPr id="4" name="Picture 3" descr="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749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Influencer gross revenue: ₹0.47 crore; refunds ₹0.20 crore.</a:t>
            </a:r>
          </a:p>
          <a:p>
            <a:pPr>
              <a:spcAft>
                <a:spcPts val="1000"/>
              </a:spcAft>
              <a:defRPr sz="1300"/>
            </a:pPr>
            <a:r>
              <a:t>Influencer realized profit margin: 24.2%.</a:t>
            </a:r>
          </a:p>
          <a:p>
            <a:pPr>
              <a:spcAft>
                <a:spcPts val="1000"/>
              </a:spcAft>
              <a:defRPr sz="1300"/>
            </a:pPr>
            <a:r>
              <a:t>Paid Social realized profit margin: 53.3%.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9. Root Causes &amp; Management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Acquisition quality differs materially by channel; conversion volume alone is not enough.</a:t>
            </a:r>
          </a:p>
          <a:p>
            <a:pPr>
              <a:spcAft>
                <a:spcPts val="1000"/>
              </a:spcAft>
              <a:defRPr sz="1800"/>
            </a:pPr>
            <a:r>
              <a:t>Affiliate/referral has a high one-time buyer rate in the observed customer base.</a:t>
            </a:r>
          </a:p>
          <a:p>
            <a:pPr>
              <a:spcAft>
                <a:spcPts val="1000"/>
              </a:spcAft>
              <a:defRPr sz="1800"/>
            </a:pPr>
            <a:r>
              <a:t>Influencer refunds materially reduce realized revenue and profit relative to Paid Social.</a:t>
            </a:r>
          </a:p>
          <a:p>
            <a:pPr>
              <a:spcAft>
                <a:spcPts val="1000"/>
              </a:spcAft>
              <a:defRPr sz="1800"/>
            </a:pPr>
            <a:r>
              <a:t>High CSAT and absence of early delivery issues coincide with higher repeat purchase rates.</a:t>
            </a:r>
          </a:p>
          <a:p>
            <a:pPr>
              <a:spcAft>
                <a:spcPts val="1000"/>
              </a:spcAft>
              <a:defRPr sz="1800"/>
            </a:pPr>
            <a:r>
              <a:t>Campaign attribution is incomplete for 43.5% of customers.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10. Recommendations &amp; Implementation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Next 30 days: enforce campaign-ID capture, promo governance, and weekly refund/one-time-buyer monitoring.</a:t>
            </a:r>
          </a:p>
          <a:p>
            <a:pPr>
              <a:spcAft>
                <a:spcPts val="1000"/>
              </a:spcAft>
              <a:defRPr sz="1700"/>
            </a:pPr>
            <a:r>
              <a:t>Next 60 days: introduce support SLA and CSAT monitoring by cohort.</a:t>
            </a:r>
          </a:p>
          <a:p>
            <a:pPr>
              <a:spcAft>
                <a:spcPts val="1000"/>
              </a:spcAft>
              <a:defRPr sz="1700"/>
            </a:pPr>
            <a:r>
              <a:t>Next 90 days: controlled test of Influencer vs Paid Social budget mix.</a:t>
            </a:r>
          </a:p>
          <a:p>
            <a:pPr>
              <a:spcAft>
                <a:spcPts val="1000"/>
              </a:spcAft>
              <a:defRPr sz="1700"/>
            </a:pPr>
            <a:r>
              <a:t>Model 30% Influencer-to-Paid-Social reallocation as an experiment, not a guaranteed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11. Implementation Priority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Impact vs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6400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0" y="1371600"/>
            <a:ext cx="9144" cy="45720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6400800" cy="914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HIGH IMPACT / HIGH FEASIBILITY</a:t>
            </a:r>
            <a:br/>
            <a:r>
              <a:t>• Promo governance</a:t>
            </a:r>
            <a:br/>
            <a:r>
              <a:t>• Support SLA + CSAT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HIGH IMPACT / LOWER FEASIBILITY</a:t>
            </a:r>
            <a:br/>
            <a:r>
              <a:t>• Budget-mix experiment</a:t>
            </a:r>
            <a:br/>
            <a:r>
              <a:t>• Product expectation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LOWER IMPACT / HIGH FEASIBILITY</a:t>
            </a:r>
            <a:br/>
            <a:r>
              <a:t>• Campaign-ID capture</a:t>
            </a:r>
            <a:br/>
            <a:r>
              <a:t>• Channel taxonomy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02336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LOWER IMPACT / LOWER FEASIBILITY</a:t>
            </a:r>
            <a:br/>
            <a:r>
              <a:t>• Long-term assortment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Priority: fix attribution and promo leakage first; then test channel budget shifts with controlled measurement.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</a:defRPr>
            </a:pPr>
            <a:r>
              <a:t>UrbanNest India | SIM-004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766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 Teja</dc:creator>
  <cp:keywords/>
  <dc:description>generated using python-pptx</dc:description>
  <cp:lastModifiedBy>Mani Teja</cp:lastModifiedBy>
  <cp:revision>2</cp:revision>
  <dcterms:created xsi:type="dcterms:W3CDTF">2013-01-27T09:14:16Z</dcterms:created>
  <dcterms:modified xsi:type="dcterms:W3CDTF">2026-09-25T07:19:06Z</dcterms:modified>
  <cp:category/>
</cp:coreProperties>
</file>